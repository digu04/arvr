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2" r:id="rId4"/>
    <p:sldId id="260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3" r:id="rId16"/>
    <p:sldId id="274" r:id="rId17"/>
    <p:sldId id="264" r:id="rId18"/>
  </p:sldIdLst>
  <p:sldSz cx="12192000" cy="6858000"/>
  <p:notesSz cx="6858000" cy="9144000"/>
  <p:embeddedFontLst>
    <p:embeddedFont>
      <p:font typeface="Franklin Gothic" panose="020B0604020202020204" charset="0"/>
      <p:bold r:id="rId20"/>
    </p:embeddedFont>
    <p:embeddedFont>
      <p:font typeface="Libre Franklin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0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94660"/>
  </p:normalViewPr>
  <p:slideViewPr>
    <p:cSldViewPr snapToGrid="0">
      <p:cViewPr>
        <p:scale>
          <a:sx n="75" d="100"/>
          <a:sy n="75" d="100"/>
        </p:scale>
        <p:origin x="96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4013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9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5816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545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3723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3278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1DF8CC9-362D-1F2C-9C34-F5CD0AF7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EDD5BF11-7247-FF64-D964-91E5DE6CE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B0EDD894-1B1A-CC37-0CD7-4E1E40CA6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304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1CA86AC9-18BE-3D38-757C-588D9F03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556AE170-A175-00B0-1053-62811210D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699CA69C-80FA-6816-2633-BE556C1A0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1703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22B5339C-C966-0839-80A5-52A96C3C9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82DED06B-6228-EDA9-56E6-1237D268C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AF383B67-00DC-4ADF-6C91-B02F4A5AA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988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CEDAD83-D1A4-314A-ADE3-34788A03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8506D83C-7F8B-0765-11C4-FADA4BD80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5327ACE6-E165-299A-96F0-97E35185A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55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701A0D3D-6F1A-10D8-43FD-5A747A25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0DC47DF3-10A9-9C2C-2427-500478E5B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1C3A387F-C67B-3CE1-D1CF-4BEE65875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8892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24EBB963-A920-646E-A0FE-470C75CD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CFBAD71E-02A1-66FD-255A-F69BB58C3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D3780C89-3B9E-6061-13C4-FA8B4BA8D8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978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E6D4B89-7593-CEFF-26AC-AAA3933A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D4F81C80-8C86-0AF1-342F-09D3A4F65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C59A980F-B661-1CA2-4FCA-72AF138374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7437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8D45A497-A393-A143-072D-7D56CB32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D53B9AF2-69E0-0C54-0852-6B03ABEAC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52E35BDE-EC27-C0A9-C7E3-12539937E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8760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8892D288-E568-2778-E5F9-C849D02A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62F94ED5-A527-5A14-3BEE-F27584E81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4E4F90CF-4882-522C-D139-4DBC77535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2437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100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672A104E-4DE1-AF28-8C84-74950DFD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F6C51A50-D5F8-0A77-F8EF-5A818FC11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06742AF9-B8AE-F5EE-A9DE-42CA7BD4E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009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877825" y="13208"/>
            <a:ext cx="10936758" cy="290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</a:t>
            </a:r>
            <a:b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</a:br>
            <a:b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</a:b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 Karad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of Government of Maharashtra)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/>
            <a:endParaRPr lang="en-US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Information Technology Department</a:t>
            </a:r>
          </a:p>
          <a:p>
            <a:pPr marL="0" lvl="0" indent="0" algn="ctr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Final Year B. Tech.  [SEM VII]</a:t>
            </a:r>
            <a:endParaRPr lang="en-US" sz="2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800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800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indent="0"/>
            <a:r>
              <a:rPr lang="en-US" sz="2800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5" y="406400"/>
            <a:ext cx="1762717" cy="13647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A5B607-614F-A61D-211A-F78D53B54757}"/>
              </a:ext>
            </a:extLst>
          </p:cNvPr>
          <p:cNvSpPr txBox="1"/>
          <p:nvPr/>
        </p:nvSpPr>
        <p:spPr>
          <a:xfrm>
            <a:off x="3362960" y="3527572"/>
            <a:ext cx="795528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Seminar Title: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Risk Assessment     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with Agentic 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0" indent="0"/>
            <a:endParaRPr lang="en-US" sz="3600" b="1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872E5-4E8A-E5CB-D729-A603B9BF6F83}"/>
              </a:ext>
            </a:extLst>
          </p:cNvPr>
          <p:cNvSpPr txBox="1"/>
          <p:nvPr/>
        </p:nvSpPr>
        <p:spPr>
          <a:xfrm>
            <a:off x="5779008" y="5349240"/>
            <a:ext cx="64129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/>
            <a:r>
              <a:rPr lang="en-US" sz="1600" b="1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Student Name &amp; Roll No. :  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Maaz Parvez Ansari (22141268)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2) Digvijay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Lalaso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Salunkhe (22141270)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3) Vishwajit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Balaso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Gholave (22141239)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        4)  Shubham Vasant Kambale(22141213)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</a:t>
            </a:r>
            <a:r>
              <a:rPr lang="en-US" dirty="0">
                <a:solidFill>
                  <a:srgbClr val="4609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872583" y="89938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Background &amp; Motivation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649063" y="223915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 latinLnBrk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is a leading cause of disability and death worldwide.</a:t>
            </a:r>
          </a:p>
          <a:p>
            <a:pPr marL="514350" indent="-285750" latinLnBrk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critical to reduce risk and improve patient outcomes.</a:t>
            </a:r>
          </a:p>
          <a:p>
            <a:pPr marL="514350" indent="-285750" latinLnBrk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lack access to timely and accurate stroke risk assessment.</a:t>
            </a:r>
          </a:p>
          <a:p>
            <a:pPr marL="514350" indent="-285750" latinLnBrk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are time-consuming, costly, and require medical expertise.</a:t>
            </a:r>
          </a:p>
          <a:p>
            <a:pPr marL="514350" indent="-285750" latinLnBrk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  <a:p>
            <a:pPr marL="514350" indent="-285750" latinLnBrk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</a:t>
            </a:r>
          </a:p>
          <a:p>
            <a:pPr marL="514350" indent="-285750" latinLnBrk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Many patients remain undiagnosed until the disease reaches a critical stage.</a:t>
            </a:r>
          </a:p>
          <a:p>
            <a:pPr marL="514350" indent="-285750" latinLnBrk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Traditional diagnostic methods are costly, time-consuming, and not always accessible.</a:t>
            </a:r>
          </a:p>
          <a:p>
            <a:pPr marL="514350" indent="-285750" latinLnBrk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There is a need for an affordable and efficient system for early </a:t>
            </a:r>
            <a:r>
              <a:rPr lang="en-US" dirty="0"/>
              <a:t>prediction of heart disease.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Heart disease is one of the leading causes of death globally.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Early detection through AI helps save lives.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Traditional ML models need human supervision.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Agentic AI enables autonomous and adaptive intelligence.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This project predicts, explains, and learns from patient data</a:t>
            </a:r>
            <a:r>
              <a:rPr lang="en-US" sz="2800" dirty="0">
                <a:latin typeface="+mj-lt"/>
              </a:rPr>
              <a:t>.</a:t>
            </a:r>
          </a:p>
          <a:p>
            <a:pPr marL="228600" indent="0" latinLnBrk="1">
              <a:lnSpc>
                <a:spcPct val="100000"/>
              </a:lnSpc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         </a:t>
            </a:r>
            <a:endParaRPr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50CAD0-2483-20C4-925E-4671C553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99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Proposed Work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345440" y="1869440"/>
            <a:ext cx="11846560" cy="468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Analyze patient-related attributes that influence heart health. 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Build an AI-powered system for accurate heart disease prediction.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Provide interpretable and user-friendly results.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Continuously learn and adapt from new data and feedback.</a:t>
            </a:r>
            <a:endParaRPr lang="en-IN" sz="2400" dirty="0">
              <a:latin typeface="+mj-lt"/>
              <a:cs typeface="Times New Roman" panose="02020603050405020304" pitchFamily="18" charset="0"/>
            </a:endParaRPr>
          </a:p>
          <a:p>
            <a:pPr marL="571500" indent="-342900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Support preventive care and reduce mortality rates through timely medical</a:t>
            </a:r>
          </a:p>
          <a:p>
            <a:pPr marL="228600" indent="0" latinLnBrk="1">
              <a:lnSpc>
                <a:spcPct val="150000"/>
              </a:lnSpc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     intervention</a:t>
            </a:r>
            <a:r>
              <a:rPr lang="en-US" sz="2000" dirty="0">
                <a:latin typeface="+mj-lt"/>
              </a:rPr>
              <a:t>.</a:t>
            </a:r>
          </a:p>
          <a:p>
            <a:pPr latinLnBrk="1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5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416560" y="1122558"/>
            <a:ext cx="10633734" cy="573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patient data: age, BP, cholesterol, heart rate, etc.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encode categorical data, normalize features, split dataset.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Selection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attributes influencing heart disease.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b="1" dirty="0"/>
              <a:t>Model Development:</a:t>
            </a:r>
          </a:p>
          <a:p>
            <a:r>
              <a:rPr lang="en-US" dirty="0"/>
              <a:t> Machine learning algorithms like Logistic Regression, Decision Tree, Random Forest, and SVM.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b="1" dirty="0"/>
              <a:t>Agentic AI Integration: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AI acts as a virtual health advisor. It interprets </a:t>
            </a:r>
            <a:r>
              <a:rPr lang="en-US" sz="1800" dirty="0"/>
              <a:t> </a:t>
            </a:r>
            <a:r>
              <a:rPr lang="en-US" dirty="0"/>
              <a:t>results, explains the risk level, and gives personalized </a:t>
            </a:r>
          </a:p>
          <a:p>
            <a:r>
              <a:rPr lang="en-US" dirty="0"/>
              <a:t>recommendations such as quitting smoking, improving diet, exercising regularly, and managing </a:t>
            </a:r>
            <a:endParaRPr lang="en-US" sz="1800" dirty="0"/>
          </a:p>
          <a:p>
            <a:r>
              <a:rPr lang="en-US" dirty="0"/>
              <a:t>stress.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Prediction &amp; Analysis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new patient data → Predict risk of heart disease → Visualize results.</a:t>
            </a:r>
          </a:p>
        </p:txBody>
      </p:sp>
      <p:sp>
        <p:nvSpPr>
          <p:cNvPr id="5" name="Google Shape;238;p4">
            <a:extLst>
              <a:ext uri="{FF2B5EF4-FFF2-40B4-BE49-F238E27FC236}">
                <a16:creationId xmlns:a16="http://schemas.microsoft.com/office/drawing/2014/main" id="{95E08610-B34C-2A3D-789A-92B6B31FBA01}"/>
              </a:ext>
            </a:extLst>
          </p:cNvPr>
          <p:cNvSpPr txBox="1">
            <a:spLocks/>
          </p:cNvSpPr>
          <p:nvPr/>
        </p:nvSpPr>
        <p:spPr>
          <a:xfrm>
            <a:off x="5172133" y="352259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41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A2814302-D872-1DD7-8DAE-83333669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FE2A450C-F50E-B359-B05C-A263AE1DB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4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What is Agentic AI?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7AD5ABAD-FE61-992E-E89A-C6813A37838F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2B957-669C-3E3D-8039-590304BCB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753" y="2274939"/>
            <a:ext cx="8557260" cy="27313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sz="2400" dirty="0"/>
              <a:t>Agentic AI = AI with agency (plans, reasons, and acts).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Works through multiple cooperating agents.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Each agent performs specific tasks collaboratively.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5-Agent structure ensures end-to-end autonomy.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82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32B46651-0A5F-838F-A596-717053F6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5718F1FD-9A4D-E646-75DD-8D57FE243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Agentic AI Architecture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026E5076-20FD-23BA-C454-8EA3563282D3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837D-0E82-5228-5829-257F621D7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5851" y="1393369"/>
            <a:ext cx="9355282" cy="2731390"/>
          </a:xfrm>
        </p:spPr>
        <p:txBody>
          <a:bodyPr/>
          <a:lstStyle/>
          <a:p>
            <a:r>
              <a:rPr lang="en-IN" dirty="0"/>
              <a:t>           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F6E277-87AC-689F-9D1D-023F4D95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348" y="1134319"/>
            <a:ext cx="7176893" cy="551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19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69A5CCE2-4940-5734-A14B-F7D61E6A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179975C8-FB3C-1368-C7B3-D9AE44D2F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Agent 1 - User Interaction Agent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0EA25A55-0E47-5769-FD74-79CBB7E4734B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409CF-AC8D-2C05-2079-051C25EF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656904"/>
            <a:ext cx="8557260" cy="2731390"/>
          </a:xfrm>
        </p:spPr>
        <p:txBody>
          <a:bodyPr/>
          <a:lstStyle/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Interface between user and AI system.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Collects and validates input data.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Displays prediction results clearly.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Connects users with backend AI modules.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36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E564DAF-120D-1480-33DC-A5149FD7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ECC6FC60-2CE2-A501-A83D-0B791F5B3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Agent 2 – Data Processing Agent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6A8F4AAB-3C36-14D9-AAAF-19CE2FB42887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7906C-54A0-4A31-254C-88BAD9419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499" y="2656903"/>
            <a:ext cx="9305405" cy="4558544"/>
          </a:xfrm>
        </p:spPr>
        <p:txBody>
          <a:bodyPr/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Cleans and validates patient data.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Checks for missing or invalid values.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Converts data into model-ready format.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Ensures quality for accurate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11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9948DDE7-5F27-B839-B649-62CFED97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CC76DB1C-C86B-DD69-8CD6-4BEAFC7E1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Agent 3 – Prediction Agent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0F9CCF71-C461-1BF3-108E-FB7DE61641F0}"/>
              </a:ext>
            </a:extLst>
          </p:cNvPr>
          <p:cNvSpPr txBox="1">
            <a:spLocks/>
          </p:cNvSpPr>
          <p:nvPr/>
        </p:nvSpPr>
        <p:spPr>
          <a:xfrm>
            <a:off x="610616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3A0A0-1A51-F979-29A9-6B999E05A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656904"/>
            <a:ext cx="8557260" cy="2731390"/>
          </a:xfrm>
        </p:spPr>
        <p:txBody>
          <a:bodyPr/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  </a:t>
            </a:r>
            <a:r>
              <a:rPr lang="en-US" sz="2400" dirty="0"/>
              <a:t>Loads trained machine learning model.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Predicts heart disease probability.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Sends output to Explanation Agent.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Core intelligence producing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38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EF29CB7F-665F-3868-C7E0-62D92189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3AEB7758-58D9-FE8E-3ACE-5EAAC544D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US" dirty="0"/>
              <a:t>Agent 4 – Explanation &amp; Reasoning Agent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930AFF3F-AB1E-E414-FE4B-5BA07A36E475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15D73-3CA9-94AC-04E2-95FD321EE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656904"/>
            <a:ext cx="8557260" cy="3378136"/>
          </a:xfrm>
        </p:spPr>
        <p:txBody>
          <a:bodyPr/>
          <a:lstStyle/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Uses SHAP/LIME for interpretability.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Highlights top influencing factors.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Provides medical reasoning.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Explains predictions in simple terms.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569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9C121353-89EB-6C31-A318-37945C60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4C7EC26F-0663-CFB8-5C5B-AE10F9491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lvl="0"/>
            <a:r>
              <a:rPr lang="en-US" dirty="0"/>
              <a:t>Agent 5 – Learning &amp; Recommendation Agent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567A3172-D5C8-3AF8-7358-5829DF72B823}"/>
              </a:ext>
            </a:extLst>
          </p:cNvPr>
          <p:cNvSpPr txBox="1">
            <a:spLocks/>
          </p:cNvSpPr>
          <p:nvPr/>
        </p:nvSpPr>
        <p:spPr>
          <a:xfrm>
            <a:off x="6096000" y="2087519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B8090-9179-FA43-55A8-3BF0CE660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656904"/>
            <a:ext cx="8557260" cy="4608420"/>
          </a:xfrm>
        </p:spPr>
        <p:txBody>
          <a:bodyPr/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• </a:t>
            </a:r>
            <a:r>
              <a:rPr lang="en-US" sz="2400" dirty="0"/>
              <a:t>Learns from feedback and outcomes.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• Retrains model with new data.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• Generates personalized advice.</a:t>
            </a:r>
          </a:p>
          <a:p>
            <a:pPr marL="5715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• Ensures continuous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95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41A2F26D-5A5A-025E-2A87-EDEDAF7B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1C4D76F5-29AA-0B66-D510-791A1D268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System Workflow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5E5A7953-B55B-CC26-C7B7-698B13982DC5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A196A-636B-2F82-AD94-6175E8262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4339" y="3429000"/>
            <a:ext cx="5608250" cy="27889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F3B82E-ADB7-596D-335C-320EDE2E5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758" y="904059"/>
            <a:ext cx="10095863" cy="595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9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B2A33AC7-FC78-4E21-9D4A-5BBE28FC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7752B261-DFFF-45A7-00A2-3DBA55FF56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1" y="365579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US" dirty="0"/>
              <a:t>Advantages of Agentic AI Approach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861CC1F1-77E9-C1C2-619A-812648623E32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9FF01-D272-B3BD-A838-DCB15B43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656904"/>
            <a:ext cx="8557260" cy="4608420"/>
          </a:xfrm>
        </p:spPr>
        <p:txBody>
          <a:bodyPr/>
          <a:lstStyle/>
          <a:p>
            <a:r>
              <a:rPr lang="en-IN" sz="2400" dirty="0"/>
              <a:t>✅ Fully autonomous prediction cycle</a:t>
            </a:r>
          </a:p>
          <a:p>
            <a:r>
              <a:rPr lang="en-IN" sz="2400" dirty="0"/>
              <a:t>✅ Transparent and explainable decisions</a:t>
            </a:r>
          </a:p>
          <a:p>
            <a:r>
              <a:rPr lang="en-IN" sz="2400" dirty="0"/>
              <a:t>✅ Personalized recommendations</a:t>
            </a:r>
          </a:p>
          <a:p>
            <a:r>
              <a:rPr lang="en-IN" sz="2400" dirty="0"/>
              <a:t>✅ Continuous learning</a:t>
            </a:r>
          </a:p>
          <a:p>
            <a:r>
              <a:rPr lang="en-IN" sz="2400" dirty="0"/>
              <a:t>✅ Web-based, user-friendly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952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115441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/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399188"/>
            <a:ext cx="8413657" cy="3579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• </a:t>
            </a:r>
            <a:r>
              <a:rPr lang="en-US" sz="2400" dirty="0"/>
              <a:t>Agentic AI enhances automation and interpretability in healthcare.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Multi-agent system improves prediction accuracy and learning.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Supports preventive care through smart recommendations.</a:t>
            </a:r>
          </a:p>
          <a:p>
            <a:pPr latinLnBrk="1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7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4EBA07EF-C84F-7038-7F7D-B04B444F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E1F4CADB-D09E-952B-2FCA-3D9FE39DA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115441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>
            <a:extLst>
              <a:ext uri="{FF2B5EF4-FFF2-40B4-BE49-F238E27FC236}">
                <a16:creationId xmlns:a16="http://schemas.microsoft.com/office/drawing/2014/main" id="{8412169D-BBB0-F0F6-45E7-B033E2518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4023" y="2287428"/>
            <a:ext cx="8413657" cy="3579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sz="1000" dirty="0"/>
              <a:t>1.  </a:t>
            </a:r>
            <a:r>
              <a:rPr lang="en-IN" sz="1400" i="1" dirty="0">
                <a:latin typeface="+mj-lt"/>
              </a:rPr>
              <a:t>V. K. Gnanavel, R. Sukanya, H. Mercy, P. Jayalakshmi and S. </a:t>
            </a:r>
            <a:r>
              <a:rPr lang="en-IN" sz="1400" i="1" dirty="0" err="1">
                <a:latin typeface="+mj-lt"/>
              </a:rPr>
              <a:t>Veeramalai</a:t>
            </a:r>
            <a:r>
              <a:rPr lang="en-IN" sz="1400" i="1" dirty="0">
                <a:latin typeface="+mj-lt"/>
              </a:rPr>
              <a:t>,  "GUI Base Prediction of Heart Stroke Stages by Finding the Accuracy  using Machine Learning Algorithm," 2022 International Conference on  Data Science, Agents &amp; Artificial Intelligence (ICDSAAI), Chennai, India,  2022, pp. 1-5, </a:t>
            </a:r>
            <a:r>
              <a:rPr lang="en-IN" sz="1400" i="1" dirty="0" err="1">
                <a:latin typeface="+mj-lt"/>
              </a:rPr>
              <a:t>doi</a:t>
            </a:r>
            <a:r>
              <a:rPr lang="en-IN" sz="1400" i="1" dirty="0">
                <a:latin typeface="+mj-lt"/>
              </a:rPr>
              <a:t>: 10.1109/ICDSAAI55433.2022.10028815.</a:t>
            </a:r>
          </a:p>
          <a:p>
            <a:r>
              <a:rPr lang="en-US" sz="1400" i="1" dirty="0">
                <a:latin typeface="+mj-lt"/>
              </a:rPr>
              <a:t>2. M. C. Das et al., "A comparative study of machine learning approaches for  heart stroke prediction," 2023 International Conference on Smart  Applications, Communications and Networking (</a:t>
            </a:r>
            <a:r>
              <a:rPr lang="en-US" sz="1400" i="1" dirty="0" err="1">
                <a:latin typeface="+mj-lt"/>
              </a:rPr>
              <a:t>SmartNets</a:t>
            </a:r>
            <a:r>
              <a:rPr lang="en-US" sz="1400" i="1" dirty="0">
                <a:latin typeface="+mj-lt"/>
              </a:rPr>
              <a:t>), Istanbul,  </a:t>
            </a:r>
            <a:r>
              <a:rPr lang="en-US" sz="1400" i="1" dirty="0" err="1">
                <a:latin typeface="+mj-lt"/>
              </a:rPr>
              <a:t>Turkiye</a:t>
            </a:r>
            <a:r>
              <a:rPr lang="en-US" sz="1400" i="1" dirty="0">
                <a:latin typeface="+mj-lt"/>
              </a:rPr>
              <a:t>, 2023, pp. 1-6, </a:t>
            </a:r>
            <a:r>
              <a:rPr lang="en-US" sz="1400" i="1" dirty="0" err="1">
                <a:latin typeface="+mj-lt"/>
              </a:rPr>
              <a:t>doi</a:t>
            </a:r>
            <a:r>
              <a:rPr lang="en-US" sz="1400" i="1" dirty="0">
                <a:latin typeface="+mj-lt"/>
              </a:rPr>
              <a:t>: 10.1109/SmartNets58706.2023.10216049</a:t>
            </a:r>
            <a:endParaRPr lang="en-IN" sz="1400" i="1" dirty="0">
              <a:latin typeface="+mj-lt"/>
            </a:endParaRPr>
          </a:p>
          <a:p>
            <a:r>
              <a:rPr lang="en-IN" sz="1400" i="1" dirty="0">
                <a:latin typeface="+mj-lt"/>
              </a:rPr>
              <a:t>3.  M. U. Emon, M. S. Keya, T. I. Meghla, M. M. Rahman, M. S. A. Mamun  and M. S. Kaiser, "Performance Analysis of Machine Learning Approaches  in Stroke Prediction," 2020 4th International Conference on Electronics,  Communication and Aerospace Technology (ICECA), Coimbatore, India,  2020, pp. 1464-1469, </a:t>
            </a:r>
            <a:r>
              <a:rPr lang="en-IN" sz="1400" i="1" dirty="0" err="1">
                <a:latin typeface="+mj-lt"/>
              </a:rPr>
              <a:t>doi</a:t>
            </a:r>
            <a:r>
              <a:rPr lang="en-IN" sz="1400" i="1" dirty="0">
                <a:latin typeface="+mj-lt"/>
              </a:rPr>
              <a:t>: 10.1109/ICECA49313.2020.9297525.</a:t>
            </a:r>
          </a:p>
          <a:p>
            <a:r>
              <a:rPr lang="en-IN" sz="1400" i="1" dirty="0">
                <a:latin typeface="+mj-lt"/>
              </a:rPr>
              <a:t> 4. P. Garg, T. Jain, V. </a:t>
            </a:r>
            <a:r>
              <a:rPr lang="en-IN" sz="1400" i="1" dirty="0" err="1">
                <a:latin typeface="+mj-lt"/>
              </a:rPr>
              <a:t>Vashishtha</a:t>
            </a:r>
            <a:r>
              <a:rPr lang="en-IN" sz="1400" i="1" dirty="0">
                <a:latin typeface="+mj-lt"/>
              </a:rPr>
              <a:t>, V. Tiwari and A. Kumar, "Heart Stroke  Prediction using Machine Learning," 2023 2nd International Conference  on Futuristic Technologies (INCOFT), Belagavi, Karnataka, India, 2023,  pp. 1-5, </a:t>
            </a:r>
            <a:r>
              <a:rPr lang="en-IN" sz="1400" i="1" dirty="0" err="1">
                <a:latin typeface="+mj-lt"/>
              </a:rPr>
              <a:t>doi</a:t>
            </a:r>
            <a:r>
              <a:rPr lang="en-IN" sz="1400" i="1" dirty="0">
                <a:latin typeface="+mj-lt"/>
              </a:rPr>
              <a:t>: 10.1109/INCOFT60753.2023.10425509</a:t>
            </a:r>
            <a:endParaRPr lang="en-IN" sz="1400" b="1" i="1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66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744566" y="2193036"/>
            <a:ext cx="7132320" cy="3289971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30545421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977</Words>
  <Application>Microsoft Office PowerPoint</Application>
  <PresentationFormat>Widescreen</PresentationFormat>
  <Paragraphs>128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Franklin Gothic</vt:lpstr>
      <vt:lpstr>Wingdings</vt:lpstr>
      <vt:lpstr>Times New Roman</vt:lpstr>
      <vt:lpstr>Arial</vt:lpstr>
      <vt:lpstr>Calibri</vt:lpstr>
      <vt:lpstr>Libre Franklin</vt:lpstr>
      <vt:lpstr>Noto Sans Symbols</vt:lpstr>
      <vt:lpstr>Theme1</vt:lpstr>
      <vt:lpstr>PowerPoint Presentation</vt:lpstr>
      <vt:lpstr>Problem Statement Background &amp; Motivation </vt:lpstr>
      <vt:lpstr>Introduction : </vt:lpstr>
      <vt:lpstr>Objectives of Proposed Work </vt:lpstr>
      <vt:lpstr>Methodology</vt:lpstr>
      <vt:lpstr>What is Agentic AI?</vt:lpstr>
      <vt:lpstr>Agentic AI Architecture Used</vt:lpstr>
      <vt:lpstr>Agent 1 - User Interaction Agent</vt:lpstr>
      <vt:lpstr>Agent 2 – Data Processing Agent</vt:lpstr>
      <vt:lpstr>Agent 3 – Prediction Agent</vt:lpstr>
      <vt:lpstr>Agent 4 – Explanation &amp; Reasoning Agent</vt:lpstr>
      <vt:lpstr>Agent 5 – Learning &amp; Recommendation Agent</vt:lpstr>
      <vt:lpstr>System Workflow</vt:lpstr>
      <vt:lpstr>Advantages of Agentic AI Approach</vt:lpstr>
      <vt:lpstr>Conclusion</vt:lpstr>
      <vt:lpstr>References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Vishwajit Gholave</cp:lastModifiedBy>
  <cp:revision>19</cp:revision>
  <dcterms:created xsi:type="dcterms:W3CDTF">2022-02-11T07:14:46Z</dcterms:created>
  <dcterms:modified xsi:type="dcterms:W3CDTF">2025-10-31T08:33:32Z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